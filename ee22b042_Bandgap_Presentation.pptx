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66" r:id="rId15"/>
    <p:sldId id="271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23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7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70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959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4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26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3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80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5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57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3200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44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6586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60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00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4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78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Automation of a Current-Mode Bandgap Reference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gm/Id-Based Synthesis and Simulation-Driven Optimization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endParaRPr/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Jaiveer Kiran S K (EE22B042)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Department of Electrical Engineering, IIT Madras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76200"/>
            <a:ext cx="8991600" cy="6705600"/>
          </a:xfrm>
          <a:prstGeom prst="rect">
            <a:avLst/>
          </a:prstGeom>
          <a:noFill/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0B3C6497-D30D-B56B-219E-21D3C4A758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7395" y="5493936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8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Bandgap references are fundamental analog building blocks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Manual sizing is slow, iterative, and error-prone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Advanced CMOS tightens headroom, TC, and noise constraints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Need for automated and reusable design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76200"/>
            <a:ext cx="8991600" cy="6705600"/>
          </a:xfrm>
          <a:prstGeom prst="rect">
            <a:avLst/>
          </a:prstGeom>
          <a:noFill/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1314CEFB-91CD-B00A-EA25-6FA5E0C508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8084" y="5487736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8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Analytical pre-sizing using bandgap equations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gm/Id-based automated transistor synthesis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Simulation-in-the-loop DC optimization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Noise-aware refinement with per-device targeting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76200"/>
            <a:ext cx="8991600" cy="6705600"/>
          </a:xfrm>
          <a:prstGeom prst="rect">
            <a:avLst/>
          </a:prstGeom>
          <a:noFill/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1EFB0E3C-CD8B-BB8B-CF0D-897D776854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9326" y="5415548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68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Overall Design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Analytical pre-sizing of resistors and currents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gm/Id characterization and device synthesis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Three-stage DC temperature optimization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Noise and 1/f corner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76200"/>
            <a:ext cx="8991600" cy="6705600"/>
          </a:xfrm>
          <a:prstGeom prst="rect">
            <a:avLst/>
          </a:prstGeom>
          <a:noFill/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E696BDB3-C01D-9B1C-4491-CF1EFA17D6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5421" y="561090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7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Circuit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Current-mode bandgap reference topology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Bandgap core, op-amp, and current mirrors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Designed for 1.2 V supply and 0.5 V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76200"/>
            <a:ext cx="8991600" cy="6705600"/>
          </a:xfrm>
          <a:prstGeom prst="rect">
            <a:avLst/>
          </a:prstGeom>
          <a:noFill/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111F1082-7401-336A-6D36-4A56A9677E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6210" y="5659026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05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Pre-Sizing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Diode temperature sweep to extract VBE(T)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CTAT slope estimation from simulation data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PTAT voltage generation using ΔVBE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Closed-form computation of resistor ratios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76200"/>
            <a:ext cx="8991600" cy="6705600"/>
          </a:xfrm>
          <a:prstGeom prst="rect">
            <a:avLst/>
          </a:prstGeom>
          <a:noFill/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B7FA3351-80AA-B819-1A91-2CB798D4BC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60115" y="5789949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34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gm/Id-Based Device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NMOS and PMOS gm/Id lookup tables from Spectre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Mapping target gm/Id to current per finger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Automatic determination of finger counts and lengths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76200"/>
            <a:ext cx="8991600" cy="6705600"/>
          </a:xfrm>
          <a:prstGeom prst="rect">
            <a:avLst/>
          </a:prstGeom>
          <a:noFill/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5826ECBE-B29A-3567-7CC4-93FC6A00E8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24021" y="5781842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1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DC Optimization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Objective: smooth, centered, and low-TC </a:t>
            </a:r>
            <a:r>
              <a:rPr dirty="0" err="1"/>
              <a:t>Vout</a:t>
            </a:r>
            <a:r>
              <a:rPr dirty="0"/>
              <a:t>(T)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Hierarchical three-stage optimization loop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All updates validated via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76200"/>
            <a:ext cx="8991600" cy="6705600"/>
          </a:xfrm>
          <a:prstGeom prst="rect">
            <a:avLst/>
          </a:prstGeom>
          <a:noFill/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1FDDE17-A82A-B167-490E-9861A025FA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9326" y="5634963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Noise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DC-optimized solution used as baseline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Dominant noise contributors identified from Spectre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Selective device scaling preserves DC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76200"/>
            <a:ext cx="8991600" cy="6705600"/>
          </a:xfrm>
          <a:prstGeom prst="rect">
            <a:avLst/>
          </a:prstGeom>
          <a:noFill/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25212E6D-4266-1E3E-5A54-9F09403437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80432" y="561090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88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Reference voltage ≈ 0.4995 V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Peak-to-peak Vout variation &lt; 5 mV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Turning point within target temperature window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Power consumption ≈ 283 µW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76200"/>
            <a:ext cx="8991600" cy="6705600"/>
          </a:xfrm>
          <a:prstGeom prst="rect">
            <a:avLst/>
          </a:prstGeom>
          <a:noFill/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52FF5CC6-6EA4-5BD6-A164-697FFE3D12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3142" y="5852886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28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1362-BB81-CA3D-E355-BAA0BAE3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00D97E8-6F29-4EC6-44C0-BA0CC87A433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3231" b="13231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A95B0-3032-2326-F858-6286EB843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/>
              <a:t>                                        </a:t>
            </a:r>
            <a:r>
              <a:rPr lang="en-IN" sz="2000" dirty="0"/>
              <a:t>VOUT VS TEMPERATURE</a:t>
            </a:r>
          </a:p>
        </p:txBody>
      </p:sp>
    </p:spTree>
    <p:extLst>
      <p:ext uri="{BB962C8B-B14F-4D97-AF65-F5344CB8AC3E}">
        <p14:creationId xmlns:p14="http://schemas.microsoft.com/office/powerpoint/2010/main" val="1019401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7DEF-AFE8-120F-86F9-54EFAC035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1C83D1B-BFAB-239A-08D7-20FD671F61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4259" b="14259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B6F5F-99F0-F742-545F-F5523B124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           CTAT AND PTAT CURRENTS GENERATED</a:t>
            </a:r>
          </a:p>
        </p:txBody>
      </p:sp>
    </p:spTree>
    <p:extLst>
      <p:ext uri="{BB962C8B-B14F-4D97-AF65-F5344CB8AC3E}">
        <p14:creationId xmlns:p14="http://schemas.microsoft.com/office/powerpoint/2010/main" val="700645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8B3E1-FE7E-FE93-C357-7429C04E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F01D85F-F8FB-2104-FC26-30FA887291B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4208" b="14208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7226C-E848-0A47-29C4-DEDFD823F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                      OUTPUT REFERRED NOISE</a:t>
            </a:r>
          </a:p>
        </p:txBody>
      </p:sp>
    </p:spTree>
    <p:extLst>
      <p:ext uri="{BB962C8B-B14F-4D97-AF65-F5344CB8AC3E}">
        <p14:creationId xmlns:p14="http://schemas.microsoft.com/office/powerpoint/2010/main" val="1968886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Fully automated current-mode bandgap design flow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Combines theory, gm/Id methodology, and simulation</a:t>
            </a:r>
          </a:p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rPr dirty="0"/>
              <a:t>Achieves low TC and low noise in scaled CMOS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76200"/>
            <a:ext cx="8991600" cy="6705600"/>
          </a:xfrm>
          <a:prstGeom prst="rect">
            <a:avLst/>
          </a:prstGeom>
          <a:noFill/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BDE56855-C1C9-59F5-8263-3047E68156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39800" y="5838163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39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EABB1-EA72-5E5A-165D-49827865A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6CBCF-7FE7-62CA-BB0C-824C41C2F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Extended to include PVT corners and Mismatch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Adding a Start-up Circuit.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Post layout extraction.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More advanced optimisation techniques can also be incorporated</a:t>
            </a:r>
            <a:r>
              <a:rPr lang="en-IN" sz="2400" dirty="0"/>
              <a:t>.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FA4619A-F6C6-4668-6CC9-1354226207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368" y="5634963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7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7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41414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76200"/>
            <a:ext cx="8991600" cy="6705600"/>
          </a:xfrm>
          <a:prstGeom prst="rect">
            <a:avLst/>
          </a:prstGeom>
          <a:noFill/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284</TotalTime>
  <Words>330</Words>
  <Application>Microsoft Office PowerPoint</Application>
  <PresentationFormat>On-screen Show (4:3)</PresentationFormat>
  <Paragraphs>60</Paragraphs>
  <Slides>16</Slides>
  <Notes>0</Notes>
  <HiddenSlides>0</HiddenSlides>
  <MMClips>12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Trebuchet MS</vt:lpstr>
      <vt:lpstr>Wingdings</vt:lpstr>
      <vt:lpstr>Wingdings 3</vt:lpstr>
      <vt:lpstr>Facet</vt:lpstr>
      <vt:lpstr>Automation of a Current-Mode Bandgap Reference</vt:lpstr>
      <vt:lpstr>Motivation</vt:lpstr>
      <vt:lpstr>Key Contributions</vt:lpstr>
      <vt:lpstr>Overall Design Flow</vt:lpstr>
      <vt:lpstr>Circuit Architecture</vt:lpstr>
      <vt:lpstr>Pre-Sizing Methodology</vt:lpstr>
      <vt:lpstr>gm/Id-Based Device Synthesis</vt:lpstr>
      <vt:lpstr>DC Optimization Strategy</vt:lpstr>
      <vt:lpstr>Noise Optimization</vt:lpstr>
      <vt:lpstr>Results Summary</vt:lpstr>
      <vt:lpstr>PowerPoint Presentation</vt:lpstr>
      <vt:lpstr>PowerPoint Presentation</vt:lpstr>
      <vt:lpstr>PowerPoint Presentation</vt:lpstr>
      <vt:lpstr>Conclusion</vt:lpstr>
      <vt:lpstr>Future Works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Senthilkumar T.M.A</cp:lastModifiedBy>
  <cp:revision>2</cp:revision>
  <dcterms:created xsi:type="dcterms:W3CDTF">2013-01-27T09:14:16Z</dcterms:created>
  <dcterms:modified xsi:type="dcterms:W3CDTF">2026-01-25T20:24:46Z</dcterms:modified>
  <cp:category/>
</cp:coreProperties>
</file>